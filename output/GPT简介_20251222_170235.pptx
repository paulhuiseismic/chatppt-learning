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6" autoAdjust="0"/>
    <p:restoredTop sz="95392" autoAdjust="0"/>
  </p:normalViewPr>
  <p:slideViewPr>
    <p:cSldViewPr snapToGrid="0" snapToObjects="1" showGuides="1">
      <p:cViewPr varScale="1">
        <p:scale>
          <a:sx n="145" d="100"/>
          <a:sy n="145" d="100"/>
        </p:scale>
        <p:origin x="108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3883F12-F83E-54DF-3DA3-B82018DE689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3848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AF6AE7E-48A4-853E-86DB-0052397BA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25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C44272C1-9801-6C74-E3C5-F0A5060C594E}"/>
              </a:ext>
            </a:extLst>
          </p:cNvPr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F9DCA5E-5350-4FD4-B89F-6451DE401AE9}"/>
                </a:ext>
              </a:extLst>
            </p:cNvPr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B5F851F-9556-831E-6D8D-DDF0E2AB1C3A}"/>
                </a:ext>
              </a:extLst>
            </p:cNvPr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1EECA3C-02C9-413D-FEA1-B9A9D24B59CA}"/>
                </a:ext>
              </a:extLst>
            </p:cNvPr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CE7519B-515E-31A4-DEAA-C410BF3FC50B}"/>
                </a:ext>
              </a:extLst>
            </p:cNvPr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FC4F31-6613-C8FF-472F-09D5922D64A9}"/>
                </a:ext>
              </a:extLst>
            </p:cNvPr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7E100DB-B59C-06CC-F44D-0AC2D88976A3}"/>
                </a:ext>
              </a:extLst>
            </p:cNvPr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BA5E0DD-5FC6-F661-433E-C3D81611B336}"/>
                </a:ext>
              </a:extLst>
            </p:cNvPr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6764B1CE-F369-710C-1DBB-869850EF9EA6}"/>
                </a:ext>
              </a:extLst>
            </p:cNvPr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5F8BC69-62FD-E097-B986-8AE6647C1CC1}"/>
                </a:ext>
              </a:extLst>
            </p:cNvPr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0BF6F28-F22D-BDD2-C17D-318A90251650}"/>
                </a:ext>
              </a:extLst>
            </p:cNvPr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BD44801-3868-B98F-B6E6-723D21BE2CE7}"/>
                </a:ext>
              </a:extLst>
            </p:cNvPr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B9963B2-1F0B-508B-C936-CBF2279564DD}"/>
                </a:ext>
              </a:extLst>
            </p:cNvPr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D7018AA-368F-A10F-540F-C69A448673FB}"/>
                </a:ext>
              </a:extLst>
            </p:cNvPr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2FDD5F8-415A-7985-73E1-5EBA423B4B34}"/>
                </a:ext>
              </a:extLst>
            </p:cNvPr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D84F4F4-71E9-81A7-0FFF-7569969BC191}"/>
                </a:ext>
              </a:extLst>
            </p:cNvPr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30F3876-145C-218F-63A4-7AFD307BE963}"/>
                </a:ext>
              </a:extLst>
            </p:cNvPr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AE1780D-B91B-9A5E-239E-0B8902560FD9}"/>
                </a:ext>
              </a:extLst>
            </p:cNvPr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84EFC02-249A-430B-A691-4E57A9273519}"/>
                </a:ext>
              </a:extLst>
            </p:cNvPr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9FDBEC2-AE31-B07A-955D-F203FA0B2D29}"/>
                </a:ext>
              </a:extLst>
            </p:cNvPr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A4FB98F-8CBB-1D06-D483-7EE2726535CF}"/>
                </a:ext>
              </a:extLst>
            </p:cNvPr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7A6A89E-FCED-7C49-F11A-3A7F41F27B16}"/>
                </a:ext>
              </a:extLst>
            </p:cNvPr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7454269-42CB-A4AD-8691-764ACA9ABF75}"/>
                </a:ext>
              </a:extLst>
            </p:cNvPr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8BD6438-BC78-251F-E5AD-7D13AD80C02A}"/>
                </a:ext>
              </a:extLst>
            </p:cNvPr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70313F53-3475-15CB-EBB7-828E7B4CD3F9}"/>
                </a:ext>
              </a:extLst>
            </p:cNvPr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9AB54B3-7972-F820-57E9-CA9FA31E126C}"/>
                </a:ext>
              </a:extLst>
            </p:cNvPr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74201EC-9C47-60A1-F523-DB69653EFE34}"/>
                </a:ext>
              </a:extLst>
            </p:cNvPr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43F55B1-954B-F7FD-B332-1C8A7808099C}"/>
                </a:ext>
              </a:extLst>
            </p:cNvPr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C78FB7F-9BF6-210D-3D6B-F759962002D9}"/>
                </a:ext>
              </a:extLst>
            </p:cNvPr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8FBFF55-6483-B840-726E-13FEA878D575}"/>
                </a:ext>
              </a:extLst>
            </p:cNvPr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A6CAC4B-A64B-36C1-FD4E-C51E3FC02B6F}"/>
                </a:ext>
              </a:extLst>
            </p:cNvPr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B9238B3-1FD7-015E-576A-51DA415FD889}"/>
                </a:ext>
              </a:extLst>
            </p:cNvPr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Freeform: Shape 127">
            <a:extLst>
              <a:ext uri="{FF2B5EF4-FFF2-40B4-BE49-F238E27FC236}">
                <a16:creationId xmlns:a16="http://schemas.microsoft.com/office/drawing/2014/main" id="{E58C1731-578B-0EB3-585F-2AD5A3D10D3E}"/>
              </a:ext>
            </a:extLst>
          </p:cNvPr>
          <p:cNvSpPr/>
          <p:nvPr userDrawn="1"/>
        </p:nvSpPr>
        <p:spPr>
          <a:xfrm>
            <a:off x="-6215" y="3657600"/>
            <a:ext cx="12198214" cy="3200399"/>
          </a:xfrm>
          <a:custGeom>
            <a:avLst/>
            <a:gdLst>
              <a:gd name="connsiteX0" fmla="*/ 8951169 w 12179808"/>
              <a:gd name="connsiteY0" fmla="*/ 14 h 3200399"/>
              <a:gd name="connsiteX1" fmla="*/ 11653845 w 12179808"/>
              <a:gd name="connsiteY1" fmla="*/ 98641 h 3200399"/>
              <a:gd name="connsiteX2" fmla="*/ 12178450 w 12179808"/>
              <a:gd name="connsiteY2" fmla="*/ 134761 h 3200399"/>
              <a:gd name="connsiteX3" fmla="*/ 12178450 w 12179808"/>
              <a:gd name="connsiteY3" fmla="*/ 852282 h 3200399"/>
              <a:gd name="connsiteX4" fmla="*/ 12179808 w 12179808"/>
              <a:gd name="connsiteY4" fmla="*/ 852282 h 3200399"/>
              <a:gd name="connsiteX5" fmla="*/ 12179808 w 12179808"/>
              <a:gd name="connsiteY5" fmla="*/ 1752600 h 3200399"/>
              <a:gd name="connsiteX6" fmla="*/ 12179808 w 12179808"/>
              <a:gd name="connsiteY6" fmla="*/ 1981199 h 3200399"/>
              <a:gd name="connsiteX7" fmla="*/ 12179808 w 12179808"/>
              <a:gd name="connsiteY7" fmla="*/ 3200399 h 3200399"/>
              <a:gd name="connsiteX8" fmla="*/ 0 w 12179808"/>
              <a:gd name="connsiteY8" fmla="*/ 3200399 h 3200399"/>
              <a:gd name="connsiteX9" fmla="*/ 0 w 12179808"/>
              <a:gd name="connsiteY9" fmla="*/ 1981199 h 3200399"/>
              <a:gd name="connsiteX10" fmla="*/ 0 w 12179808"/>
              <a:gd name="connsiteY10" fmla="*/ 1752600 h 3200399"/>
              <a:gd name="connsiteX11" fmla="*/ 0 w 12179808"/>
              <a:gd name="connsiteY11" fmla="*/ 940776 h 3200399"/>
              <a:gd name="connsiteX12" fmla="*/ 0 w 12179808"/>
              <a:gd name="connsiteY12" fmla="*/ 852282 h 3200399"/>
              <a:gd name="connsiteX13" fmla="*/ 0 w 12179808"/>
              <a:gd name="connsiteY13" fmla="*/ 475166 h 3200399"/>
              <a:gd name="connsiteX14" fmla="*/ 8951169 w 12179808"/>
              <a:gd name="connsiteY14" fmla="*/ 14 h 320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79808" h="3200399">
                <a:moveTo>
                  <a:pt x="8951169" y="14"/>
                </a:moveTo>
                <a:cubicBezTo>
                  <a:pt x="9704520" y="748"/>
                  <a:pt x="10578586" y="29202"/>
                  <a:pt x="11653845" y="98641"/>
                </a:cubicBezTo>
                <a:lnTo>
                  <a:pt x="12178450" y="134761"/>
                </a:lnTo>
                <a:lnTo>
                  <a:pt x="12178450" y="852282"/>
                </a:lnTo>
                <a:lnTo>
                  <a:pt x="12179808" y="852282"/>
                </a:lnTo>
                <a:lnTo>
                  <a:pt x="12179808" y="1752600"/>
                </a:lnTo>
                <a:lnTo>
                  <a:pt x="12179808" y="1981199"/>
                </a:lnTo>
                <a:lnTo>
                  <a:pt x="12179808" y="3200399"/>
                </a:lnTo>
                <a:lnTo>
                  <a:pt x="0" y="3200399"/>
                </a:lnTo>
                <a:lnTo>
                  <a:pt x="0" y="1981199"/>
                </a:lnTo>
                <a:lnTo>
                  <a:pt x="0" y="1752600"/>
                </a:lnTo>
                <a:lnTo>
                  <a:pt x="0" y="940776"/>
                </a:lnTo>
                <a:lnTo>
                  <a:pt x="0" y="852282"/>
                </a:lnTo>
                <a:lnTo>
                  <a:pt x="0" y="475166"/>
                </a:lnTo>
                <a:cubicBezTo>
                  <a:pt x="4768989" y="475166"/>
                  <a:pt x="5812206" y="-3043"/>
                  <a:pt x="8951169" y="14"/>
                </a:cubicBez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69A62-8D84-F14D-A27C-164B13641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4408290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6357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F1F668FE-0FDD-1E1A-4353-6F67B9A22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1" name="Group 10">
            <a:extLst>
              <a:ext uri="{FF2B5EF4-FFF2-40B4-BE49-F238E27FC236}">
                <a16:creationId xmlns:a16="http://schemas.microsoft.com/office/drawing/2014/main" id="{D14D48C7-CEC1-09E5-1E79-6C8046A1F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7C77A70-5949-A61E-9FC3-FBF0D617B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2">
              <a:extLst>
                <a:ext uri="{FF2B5EF4-FFF2-40B4-BE49-F238E27FC236}">
                  <a16:creationId xmlns:a16="http://schemas.microsoft.com/office/drawing/2014/main" id="{767F6DFC-0245-6287-8256-21A307FE2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D062E220-69B0-25FC-172E-09FDA67D8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7E1A66A-0044-5E46-91A0-7FDFA5E5A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E6CCEFF-D5B0-74EB-02F2-4E4BBA794E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81D6279-66C7-58EC-A26F-B4215F7340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5189984-83A1-521E-761B-5BB7AA579F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B2F6A420-2CB9-7EDD-324A-B0CEBE016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F918D85-D77E-50A5-0851-B0808292D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8FC2123-0948-FF42-D605-3BE7AC8F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C8F60ED1-0186-93DD-B077-35711DB4C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2113A374-031D-1E6F-C180-1C3EF35D0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4DAB9DE-3DB7-4CE3-1A6D-D0D4ED7B6B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24">
              <a:extLst>
                <a:ext uri="{FF2B5EF4-FFF2-40B4-BE49-F238E27FC236}">
                  <a16:creationId xmlns:a16="http://schemas.microsoft.com/office/drawing/2014/main" id="{E04D1F4B-20DF-E6F3-8F6F-AA2C53B01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25">
              <a:extLst>
                <a:ext uri="{FF2B5EF4-FFF2-40B4-BE49-F238E27FC236}">
                  <a16:creationId xmlns:a16="http://schemas.microsoft.com/office/drawing/2014/main" id="{50E3E8B9-8816-E53E-BE71-F37267151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3177586-401E-76BA-3755-C183A03C0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10589AFB-5902-AAA8-00F9-16A6CF079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C049953B-0E12-FA9C-17C6-930349419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29FC464B-3728-BF92-D8BD-E2CE30A9A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0B1558BA-CB87-9325-0D82-930341CB75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6753EF0-64C0-8FD9-8D9E-3DF787FE5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811AA52-939C-8697-B215-4A496AF3E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4C3011ED-1430-A5E7-A42A-5BC4B48C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54C0B37-FFC2-8892-DC7C-1DC3D74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534847F9-D1B2-F279-CA70-BCD8214FF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07283CF-6835-42F3-B526-6430F3FBF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5EF1803-EC41-EF0E-6102-F40BAD635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6530FEA-9E6C-6DE7-9CCE-8B1E9D8995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FCE98AE2-157B-D2CB-B911-97DD0ABC6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1D295DBE-AF7B-1E20-B0DA-2410F3A070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E0D9904-DC5D-1F99-B3FB-952578E3D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3" name="Picture 142">
            <a:extLst>
              <a:ext uri="{FF2B5EF4-FFF2-40B4-BE49-F238E27FC236}">
                <a16:creationId xmlns:a16="http://schemas.microsoft.com/office/drawing/2014/main" id="{6D3E04B6-E4C7-6C7A-0E49-5A385358FF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165" b="43493"/>
          <a:stretch/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144" name="Right Triangle 143">
            <a:extLst>
              <a:ext uri="{FF2B5EF4-FFF2-40B4-BE49-F238E27FC236}">
                <a16:creationId xmlns:a16="http://schemas.microsoft.com/office/drawing/2014/main" id="{693C14E9-0F49-BAB7-62E6-A2A831114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423970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5" name="Title Placeholder 1">
            <a:extLst>
              <a:ext uri="{FF2B5EF4-FFF2-40B4-BE49-F238E27FC236}">
                <a16:creationId xmlns:a16="http://schemas.microsoft.com/office/drawing/2014/main" id="{560705C7-56E7-0D1A-2A27-024044D7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71878"/>
            <a:ext cx="10325000" cy="18788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59915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105878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79" y="2016087"/>
            <a:ext cx="10325000" cy="38884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770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/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5663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AB233BE-1CB9-6FB5-D94C-D33AED6BB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531007"/>
            <a:ext cx="10325000" cy="43735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3047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87" y="713678"/>
            <a:ext cx="4434823" cy="149007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0" name="Right Triangle 39"/>
          <p:cNvSpPr/>
          <p:nvPr/>
        </p:nvSpPr>
        <p:spPr>
          <a:xfrm rot="13500000">
            <a:off x="-281092" y="13445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233D36C-7D80-714A-B421-3A9542E9AE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838" y="2375471"/>
            <a:ext cx="4419058" cy="376702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8AFDF614-6457-A597-813C-4E49D8BBEE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0936" y="713677"/>
            <a:ext cx="6439899" cy="542816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19984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87649066-A930-D161-BFBB-AAEFEF633C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2442" y="3053008"/>
            <a:ext cx="4264589" cy="3519231"/>
          </a:xfrm>
        </p:spPr>
        <p:txBody>
          <a:bodyPr/>
          <a:lstStyle/>
          <a:p>
            <a:endParaRPr lang="en-CN" dirty="0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B2EC8A93-D66F-D231-655A-89FC743E1B0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7374" y="3053007"/>
            <a:ext cx="5723423" cy="3519231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2166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8" y="3053020"/>
            <a:ext cx="3900870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4475" y="3053020"/>
            <a:ext cx="6202561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473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Content,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8EAA-7CC8-7452-CD07-51C96DF1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410196"/>
            <a:ext cx="10325000" cy="147591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B0C965-27F1-6BE0-F0CD-51B56C0A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390160"/>
            <a:ext cx="10325000" cy="69559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7" name="Picture Placeholder 37">
            <a:extLst>
              <a:ext uri="{FF2B5EF4-FFF2-40B4-BE49-F238E27FC236}">
                <a16:creationId xmlns:a16="http://schemas.microsoft.com/office/drawing/2014/main" id="{8E41F4FA-B84A-EDFD-BC14-CB808F3D74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1077" y="3053020"/>
            <a:ext cx="4745655" cy="3519237"/>
          </a:xfrm>
        </p:spPr>
        <p:txBody>
          <a:bodyPr/>
          <a:lstStyle/>
          <a:p>
            <a:endParaRPr lang="en-CN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056F9A8-6C2C-A446-FFA4-8414D183DE8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35293" y="3053020"/>
            <a:ext cx="5051743" cy="3519237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959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C0FE04E-8B1F-5AAB-0D71-93977D91780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B2C9348-E48E-5174-E099-8CDD4966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752" y="725951"/>
            <a:ext cx="9940581" cy="1893175"/>
          </a:xfrm>
        </p:spPr>
        <p:txBody>
          <a:bodyPr anchor="ctr">
            <a:normAutofit/>
          </a:bodyPr>
          <a:lstStyle>
            <a:lvl1pPr algn="ctr">
              <a:defRPr kumimoji="0" lang="en-US" sz="5200" b="1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9">
            <a:extLst>
              <a:ext uri="{FF2B5EF4-FFF2-40B4-BE49-F238E27FC236}">
                <a16:creationId xmlns:a16="http://schemas.microsoft.com/office/drawing/2014/main" id="{4F66527F-E04C-BE43-8B5C-F7F0A9DB955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" name="Picture Placeholder 37">
            <a:extLst>
              <a:ext uri="{FF2B5EF4-FFF2-40B4-BE49-F238E27FC236}">
                <a16:creationId xmlns:a16="http://schemas.microsoft.com/office/drawing/2014/main" id="{77DB3177-02FA-8286-DF2E-7B4F5BD994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215" y="-2"/>
            <a:ext cx="12169165" cy="6857998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62214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FF2B5EF4-FFF2-40B4-BE49-F238E27FC236}">
                <a16:creationId xmlns:a16="http://schemas.microsoft.com/office/drawing/2014/main" id="{9E30A1EC-0FE2-CF2B-5A03-1DDE14D971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5579A-2D12-97A8-8D43-B92137AC7607}"/>
              </a:ext>
            </a:extLst>
          </p:cNvPr>
          <p:cNvSpPr/>
          <p:nvPr userDrawn="1"/>
        </p:nvSpPr>
        <p:spPr>
          <a:xfrm>
            <a:off x="987829" y="748146"/>
            <a:ext cx="10216342" cy="5361709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5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" panose="02000503000000020004"/>
            </a:endParaRPr>
          </a:p>
        </p:txBody>
      </p:sp>
      <p:sp>
        <p:nvSpPr>
          <p:cNvPr id="41" name="Picture Placeholder 37">
            <a:extLst>
              <a:ext uri="{FF2B5EF4-FFF2-40B4-BE49-F238E27FC236}">
                <a16:creationId xmlns:a16="http://schemas.microsoft.com/office/drawing/2014/main" id="{A9DF9E11-3DC1-BC77-18A4-0E01B104DC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7829" y="748146"/>
            <a:ext cx="10216342" cy="5361709"/>
          </a:xfrm>
        </p:spPr>
        <p:txBody>
          <a:bodyPr/>
          <a:lstStyle/>
          <a:p>
            <a:endParaRPr lang="en-CN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id="{64BE6846-477A-A6B6-EED3-F0AA5E0D3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12" y="87471"/>
            <a:ext cx="9995282" cy="448336"/>
          </a:xfrm>
        </p:spPr>
        <p:txBody>
          <a:bodyPr>
            <a:noAutofit/>
          </a:bodyPr>
          <a:lstStyle>
            <a:lvl1pPr algn="l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86682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77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/>
            <p:cNvCxnSpPr/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t>10/27/24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ight Triangle 6"/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3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3" r:id="rId2"/>
    <p:sldLayoutId id="2147483702" r:id="rId3"/>
    <p:sldLayoutId id="2147483708" r:id="rId4"/>
    <p:sldLayoutId id="2147483719" r:id="rId5"/>
    <p:sldLayoutId id="2147483709" r:id="rId6"/>
    <p:sldLayoutId id="2147483720" r:id="rId7"/>
    <p:sldLayoutId id="2147483721" r:id="rId8"/>
    <p:sldLayoutId id="2147483722" r:id="rId9"/>
    <p:sldLayoutId id="2147483707" r:id="rId10"/>
    <p:sldLayoutId id="2147483716" r:id="rId11"/>
    <p:sldLayoutId id="2147483715" r:id="rId12"/>
    <p:sldLayoutId id="2147483717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GPT简介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  <a:p>
            <a:pPr/>
            <a:r>
              <a:t>本讲涵盖GPT的基本原理、模型结构、发展历程、应用实例、挑战与前沿动态</a:t>
            </a:r>
          </a:p>
          <a:p>
            <a:pPr/>
            <a:r>
              <a:t>什么是GPT</a:t>
            </a:r>
          </a:p>
          <a:p>
            <a:pPr/>
            <a:r>
              <a:t>GPT关键原理</a:t>
            </a:r>
          </a:p>
          <a:p>
            <a:pPr/>
            <a:r>
              <a:t>Transformer架构简述</a:t>
            </a:r>
          </a:p>
          <a:p>
            <a:pPr/>
            <a:r>
              <a:t>预训练与微调流程</a:t>
            </a:r>
          </a:p>
          <a:p>
            <a:pPr/>
            <a:r>
              <a:t>发展历程（GPT-1 → GPT-4）</a:t>
            </a:r>
          </a:p>
          <a:p>
            <a:pPr/>
            <a:r>
              <a:t>主要应用场景</a:t>
            </a:r>
          </a:p>
          <a:p>
            <a:pPr/>
            <a:r>
              <a:t>面临的挑战与局限</a:t>
            </a:r>
          </a:p>
          <a:p>
            <a:pPr/>
            <a:r>
              <a:t>未来展望</a:t>
            </a:r>
          </a:p>
          <a:p>
            <a:pPr/>
            <a:r>
              <a:t>最新进展速递</a:t>
            </a:r>
          </a:p>
          <a:p>
            <a:pPr/>
            <a:r>
              <a:t>思考与讨论</a:t>
            </a:r>
          </a:p>
          <a:p>
            <a:pPr/>
            <a:r>
              <a:t>参考学习资源</a:t>
            </a:r>
          </a:p>
        </p:txBody>
      </p:sp>
      <p:pic>
        <p:nvPicPr>
          <p:cNvPr id="4" name="Picture Placeholder 3" descr="目录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3507" b="350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GPT（Generative Pre-trained Transformer），OpenAI开发的强大“语言理解生成”人工智能模型</a:t>
            </a:r>
          </a:p>
          <a:p>
            <a:pPr/>
            <a:r>
              <a:t>通俗解释：像一个无限耐心、能“对话、写作、答疑、创作”的数字头脑</a:t>
            </a:r>
          </a:p>
          <a:p>
            <a:pPr/>
            <a:r>
              <a:t>你或许在聊天机器人、写作助手、编程工具、智能检索等场景中已接触过它</a:t>
            </a:r>
          </a:p>
          <a:p>
            <a:pPr/>
            <a:r>
              <a:rPr b="1"/>
              <a:t>核心能力</a:t>
            </a:r>
            <a:r>
              <a:t>：能根据输入，自动生成类似人类表达的内容</a:t>
            </a:r>
          </a:p>
          <a:p>
            <a:pPr/>
            <a:r>
              <a:t>（小知识点：GPT不会“上网搜索”，它的知识全靠“训练记忆”！）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什么是GPT？</a:t>
            </a:r>
          </a:p>
        </p:txBody>
      </p:sp>
      <p:pic>
        <p:nvPicPr>
          <p:cNvPr id="4" name="Picture Placeholder 3" descr="temp_什么是GPT_1.jpe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32608" r="32608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2" sz="quarter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/>
              <a:t>训练路线：先大规模“通读百科”，再专项“技能精修”</a:t>
            </a:r>
          </a:p>
          <a:p>
            <a:pPr lvl="1"/>
            <a:r>
              <a:t>阶段一：通读互联网上公开的大量文本（预训练阶段）</a:t>
            </a:r>
          </a:p>
          <a:p>
            <a:pPr lvl="1"/>
            <a:r>
              <a:t>阶段二：针对特定应用/行业任务再精细优化（微调阶段）</a:t>
            </a:r>
          </a:p>
          <a:p>
            <a:pPr/>
            <a:r>
              <a:t>这样“广读+精练”，让GPT能针对各种需求灵活应对</a:t>
            </a:r>
          </a:p>
          <a:p>
            <a:pPr/>
            <a:r>
              <a:t>承接句：正因如此，GPT在实际场景中总能给出自然、合适的回应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GPT的关键原理</a:t>
            </a:r>
          </a:p>
        </p:txBody>
      </p:sp>
      <p:pic>
        <p:nvPicPr>
          <p:cNvPr id="4" name="Picture Placeholder 3" descr="GPT的关键原理_1.jpe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24530" r="24530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2" sz="quarter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Transformer架构简述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  <a:p>
            <a:pPr/>
            <a:r>
              <a:t>结构亮点：</a:t>
            </a:r>
            <a:r>
              <a:rPr b="1"/>
              <a:t>自注意力机制</a:t>
            </a:r>
            <a:r>
              <a:t>，即同时分析句子中每一词的关系</a:t>
            </a:r>
          </a:p>
          <a:p>
            <a:pPr/>
            <a:r>
              <a:t>优势：</a:t>
            </a:r>
          </a:p>
          <a:p>
            <a:pPr lvl="1"/>
            <a:r>
              <a:t>可并行处理，远超早期RNN“逐词阅读”的慢节奏</a:t>
            </a:r>
          </a:p>
          <a:p>
            <a:pPr lvl="1"/>
            <a:r>
              <a:t>能追踪长文本、保持上下文连贯</a:t>
            </a:r>
          </a:p>
          <a:p>
            <a:pPr/>
            <a:r>
              <a:t>问题导向：为什么采用它？——效率高、可记忆上下文、模型易扩展，成就了大模型时代</a:t>
            </a:r>
          </a:p>
          <a:p>
            <a:pPr/>
            <a:r>
              <a:t>小贴士：Transformer原理可想象成“全班同学互相关注每一句话”，让信息充分交流</a:t>
            </a:r>
          </a:p>
        </p:txBody>
      </p:sp>
      <p:pic>
        <p:nvPicPr>
          <p:cNvPr id="4" name="Picture Placeholder 3" descr="Transformer架构简述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16660" r="16660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展示GPT输入文本、多层自注意力网络、输出结果的流动</a:t>
            </a:r>
          </a:p>
          <a:p>
            <a:pPr/>
            <a:r>
              <a:t>（图片建议：左侧文字输入，中间多层网络带箭头，右侧智能回答输出。也可用简单人物对话气泡演示）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架构示意图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预训练 = “海量阅读”+“自主找规律”</a:t>
            </a:r>
          </a:p>
          <a:p>
            <a:pPr/>
            <a:r>
              <a:t>微调   = “专项刷题”+“对答案练准确”</a:t>
            </a:r>
          </a:p>
          <a:p>
            <a:pPr/>
            <a:r>
              <a:t>生活比喻：先学会游泳，再冲击各类比赛</a:t>
            </a:r>
          </a:p>
          <a:p>
            <a:pPr/>
            <a:r>
              <a:t>小流程图：</a:t>
            </a:r>
          </a:p>
          <a:p>
            <a:pPr lvl="1"/>
            <a:r>
              <a:t>预训练（百科学习）→ 微调（专项训练）→ 实际应用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预训练与微调流程</a:t>
            </a:r>
          </a:p>
        </p:txBody>
      </p:sp>
      <p:pic>
        <p:nvPicPr>
          <p:cNvPr id="4" name="Picture Placeholder 3" descr="预训练与微调流程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4379" r="4379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GPT系列持续进化，每次升级都给行业带来“更快、更准、更强”的变化</a:t>
            </a:r>
          </a:p>
          <a:p>
            <a:pPr/>
            <a:r>
              <a:t>各代模型迭代：参数激增，应用领域持续扩展</a:t>
            </a:r>
          </a:p>
          <a:p>
            <a:pPr/>
            <a:r>
              <a:t>过渡提示：我们来看各代GPT的关键升级与技术跃迁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发展历程概览</a:t>
            </a:r>
          </a:p>
        </p:txBody>
      </p:sp>
      <p:pic>
        <p:nvPicPr>
          <p:cNvPr id="4" name="Picture Placeholder 3" descr="发展历程概览_1.jpe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17237" r="17237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2" sz="quarter"/>
          </p:nvPr>
        </p:nvSpPr>
        <p:spPr/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2018年，1.1亿参数</a:t>
            </a:r>
          </a:p>
          <a:p>
            <a:pPr/>
            <a:r>
              <a:t>创新提出“预训练+微调”的机器学习新范式</a:t>
            </a:r>
          </a:p>
          <a:p>
            <a:pPr/>
            <a:r>
              <a:t>证明大规模泛化训练可为人工智能打下坚实基础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GPT-1</a:t>
            </a:r>
          </a:p>
        </p:txBody>
      </p:sp>
      <p:pic>
        <p:nvPicPr>
          <p:cNvPr id="4" name="Picture Placeholder 3" descr="GPT-1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9014" r="9014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参数膨胀至15亿，文本生成更加自然</a:t>
            </a:r>
          </a:p>
          <a:p>
            <a:pPr/>
            <a:r>
              <a:t>热点事件：因为担心“生成假新闻”，一度未全量开源</a:t>
            </a:r>
          </a:p>
          <a:p>
            <a:pPr/>
            <a:r>
              <a:t>具备“少样本学习”（few-shot）：看几个例子即可胜任新任务</a:t>
            </a:r>
          </a:p>
          <a:p>
            <a:pPr/>
            <a:r>
              <a:t>“AI自动写作”首次成为社会讨论热点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GPT-2</a:t>
            </a:r>
          </a:p>
        </p:txBody>
      </p:sp>
      <p:pic>
        <p:nvPicPr>
          <p:cNvPr id="4" name="Picture Placeholder 3" descr="GPT-2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7253" r="7253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1750亿参数，算法和能力质的飞跃</a:t>
            </a:r>
          </a:p>
          <a:p>
            <a:pPr/>
            <a:r>
              <a:t>真正实现零样本/少样本学习，支持对话、文案、代码生成等多任务</a:t>
            </a:r>
          </a:p>
          <a:p>
            <a:pPr/>
            <a:r>
              <a:t>现实应用：ChatGPT、微软办公AI助手、GitHub Copilot</a:t>
            </a:r>
          </a:p>
          <a:p>
            <a:pPr/>
            <a:r>
              <a:t>小结：AI开始全面赋能生产力工具和实际业务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GPT-3</a:t>
            </a:r>
          </a:p>
        </p:txBody>
      </p:sp>
      <p:pic>
        <p:nvPicPr>
          <p:cNvPr id="4" name="Picture Placeholder 3" descr="GPT-3_1.jpe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21837" r="21837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2" sz="quarter"/>
          </p:nvPr>
        </p:nvSpPr>
        <p:spPr/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/>
              <a:t>进阶能力</a:t>
            </a:r>
            <a:r>
              <a:t>：推理更强，理解更精准，能“看图说话”</a:t>
            </a:r>
          </a:p>
          <a:p>
            <a:pPr lvl="1"/>
            <a:r>
              <a:t>多模态：同时理解图像+文本</a:t>
            </a:r>
          </a:p>
          <a:p>
            <a:pPr/>
            <a:r>
              <a:t>工程难点：更精准的图文联合理解，以及事实准确度</a:t>
            </a:r>
          </a:p>
          <a:p>
            <a:pPr/>
            <a:r>
              <a:t>应用拓展到医疗智能报告、教育中“个性辅导”、法律辅助文档等领域</a:t>
            </a:r>
          </a:p>
          <a:p>
            <a:pPr/>
            <a:r>
              <a:t>想象画面：AI辅助医生撰写医学影像解释、助力老师跟踪学生个性成长轨迹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GPT-4的突破</a:t>
            </a:r>
          </a:p>
        </p:txBody>
      </p:sp>
      <p:pic>
        <p:nvPicPr>
          <p:cNvPr id="4" name="Picture Placeholder 3" descr="GPT-4的突破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11410" r="11410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梳理GPT-1到GPT-4参数规模和能力的跳变</a:t>
            </a:r>
          </a:p>
          <a:p>
            <a:pPr/>
            <a:r>
              <a:t>各代应用侧重点（文本→多模态→更细分行业）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GPT-4技术演进图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GPT应用场景举例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  <a:p>
            <a:pPr/>
            <a:r>
              <a:rPr b="1"/>
              <a:t>教育</a:t>
            </a:r>
            <a:r>
              <a:t>：ChatGPT一对一答疑，英语写作纠正</a:t>
            </a:r>
          </a:p>
          <a:p>
            <a:pPr/>
            <a:r>
              <a:rPr b="1"/>
              <a:t>办公写作</a:t>
            </a:r>
            <a:r>
              <a:t>：微软Word/Outlook自带“智能写作助手”，自动生成摘要、续写邮件</a:t>
            </a:r>
          </a:p>
          <a:p>
            <a:pPr/>
            <a:r>
              <a:rPr b="1"/>
              <a:t>编程助手</a:t>
            </a:r>
            <a:r>
              <a:t>：GitHub Copilot让开发者用一句话生成数十行代码</a:t>
            </a:r>
          </a:p>
          <a:p>
            <a:pPr/>
            <a:r>
              <a:rPr b="1"/>
              <a:t>对话/客服</a:t>
            </a:r>
            <a:r>
              <a:t>：银行、保险、网购门户等，智能机器人提供7x24自动答疑</a:t>
            </a:r>
          </a:p>
          <a:p>
            <a:pPr/>
            <a:r>
              <a:rPr b="1"/>
              <a:t>医疗健康</a:t>
            </a:r>
            <a:r>
              <a:t>：医生自助查阅文献，患者AI问诊解读</a:t>
            </a:r>
          </a:p>
          <a:p>
            <a:pPr/>
            <a:r>
              <a:t>案例卡片图标建议：📃（文档）💻（代码）🗨️（对话）🏥（医疗）</a:t>
            </a:r>
          </a:p>
        </p:txBody>
      </p:sp>
      <p:pic>
        <p:nvPicPr>
          <p:cNvPr id="4" name="Picture Placeholder 3" descr="GPT应用场景举例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21903" b="21903"/>
          <a:stretch>
            <a:fillRect/>
          </a:stretch>
        </p:blipFill>
        <p:spPr/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“看图说话”实例：输入图片+提问，得到清晰自然的图文答案</a:t>
            </a:r>
          </a:p>
          <a:p>
            <a:pPr/>
            <a:r>
              <a:t>医学场景：辅助医生快速形成结构化诊断报告</a:t>
            </a:r>
          </a:p>
          <a:p>
            <a:pPr/>
            <a:r>
              <a:t>自动舆情分析、内容审核也在逐步应用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GPT-4典型应用展示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</p:sp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/>
              <a:t>“幻觉”问题</a:t>
            </a:r>
          </a:p>
          <a:p>
            <a:pPr lvl="1"/>
            <a:r>
              <a:t>有时自信地给出“编造的答案”：如凭空生成论文出处或编造事实</a:t>
            </a:r>
          </a:p>
          <a:p>
            <a:pPr lvl="1"/>
            <a:r>
              <a:t>案例：GPT有时会列出根本不存在的文献或假新闻</a:t>
            </a:r>
          </a:p>
          <a:p>
            <a:pPr/>
            <a:r>
              <a:rPr b="1"/>
              <a:t>偏见与误用</a:t>
            </a:r>
          </a:p>
          <a:p>
            <a:pPr lvl="1"/>
            <a:r>
              <a:t>受训练数据影响，偶尔带有“人类的偏见”；也易被用于生成恶意内容</a:t>
            </a:r>
          </a:p>
          <a:p>
            <a:pPr lvl="1"/>
            <a:r>
              <a:t>场景：有组织利用大模型生成伪造邮件、诈骗信息</a:t>
            </a:r>
          </a:p>
          <a:p>
            <a:pPr/>
            <a:r>
              <a:rPr b="1"/>
              <a:t>资源/环境消耗</a:t>
            </a:r>
          </a:p>
          <a:p>
            <a:pPr lvl="1"/>
            <a:r>
              <a:t>训练一次顶级大模型，碳排放甚至堪比一架飞机跨洋飞行</a:t>
            </a:r>
          </a:p>
          <a:p>
            <a:pPr/>
            <a:r>
              <a:rPr b="1"/>
              <a:t>安全/伦理</a:t>
            </a:r>
          </a:p>
          <a:p>
            <a:pPr lvl="1"/>
            <a:r>
              <a:t>自动生成“大新闻”、欺诈邮件，存在信息安全/监管挑战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GPT的挑战与局限</a:t>
            </a:r>
          </a:p>
        </p:txBody>
      </p:sp>
      <p:pic>
        <p:nvPicPr>
          <p:cNvPr id="4" name="Picture Placeholder 3" descr="GPT的挑战与局限_1.jpe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l="15946" r="15946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2" sz="quarter"/>
          </p:nvPr>
        </p:nvSpPr>
        <p:spPr/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GPT能力飞跃，带来巨大机遇，也产生不容忽视的社会挑战</a:t>
            </a:r>
          </a:p>
          <a:p>
            <a:pPr/>
            <a:r>
              <a:t>新技术与监管、伦理同频共振，成为当今与未来共同关注焦点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小结</a:t>
            </a:r>
          </a:p>
        </p:txBody>
      </p:sp>
      <p:pic>
        <p:nvPicPr>
          <p:cNvPr id="4" name="Picture Placeholder 3" descr="小结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t="8776" b="8776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能力：支持视频、音频、多语言，理解力和创造力持续升级</a:t>
            </a:r>
          </a:p>
          <a:p>
            <a:pPr/>
            <a:r>
              <a:t>行业：自动生成医疗诊断、个性化教育内容、智能政务咨询等成“新常态”</a:t>
            </a:r>
          </a:p>
          <a:p>
            <a:pPr/>
            <a:r>
              <a:t>监管：全球逐步推动人工智能审查、隐私保护新标准</a:t>
            </a:r>
          </a:p>
          <a:p>
            <a:pPr/>
            <a:r>
              <a:t>你的想象空间：十年后，或许每个人身边都会有一个“专属AI助理”，全天候赋能生活与工作！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未来展望</a:t>
            </a:r>
          </a:p>
        </p:txBody>
      </p:sp>
      <p:pic>
        <p:nvPicPr>
          <p:cNvPr id="4" name="Picture Placeholder 3" descr="未来展望_1.jpe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 t="8739" b="8739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2" sz="quarter"/>
          </p:nvPr>
        </p:nvSpPr>
        <p:spPr/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2024年最新：多模态模型（文本—图像—音频）加速落地</a:t>
            </a:r>
          </a:p>
          <a:p>
            <a:pPr/>
            <a:r>
              <a:t>新兴方向：可微调量子推理、端侧小模型（轻量本地AI）、增强事实核查机制</a:t>
            </a:r>
          </a:p>
          <a:p>
            <a:pPr/>
            <a:r>
              <a:t>关注前沿：大模型与垂直行业（如医疗、法律、金融）结合加深，国产大模型如百川、文心也取得突破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最新进展速递</a:t>
            </a:r>
          </a:p>
        </p:txBody>
      </p:sp>
      <p:pic>
        <p:nvPicPr>
          <p:cNvPr id="4" name="Picture Placeholder 3" descr="最新进展速递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9768" r="9768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你对GPT哪项能力印象最深？为什么？</a:t>
            </a:r>
          </a:p>
          <a:p>
            <a:pPr/>
            <a:r>
              <a:t>如果你设计AI助手，最想让它帮你做什么？</a:t>
            </a:r>
          </a:p>
          <a:p>
            <a:pPr/>
            <a:r>
              <a:t>大模型“幻觉”问题该如何治理？可否加入“实时核查”环节？</a:t>
            </a:r>
          </a:p>
          <a:p>
            <a:pPr/>
            <a:r>
              <a:t>未来十年，哪些职业会因AI发生翻天覆地变化？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思考与讨论</a:t>
            </a:r>
          </a:p>
        </p:txBody>
      </p:sp>
      <p:pic>
        <p:nvPicPr>
          <p:cNvPr id="4" name="Picture Placeholder 3" descr="思考与讨论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12128" r="12128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OpenAI官网：https://openai.com/</a:t>
            </a:r>
          </a:p>
          <a:p>
            <a:pPr/>
            <a:r>
              <a:t>官方文档与白皮书：https://platform.openai.com/docs</a:t>
            </a:r>
          </a:p>
          <a:p>
            <a:pPr/>
            <a:r>
              <a:t>清华大学“人工智能前沿”系列讲座</a:t>
            </a:r>
          </a:p>
          <a:p>
            <a:pPr/>
            <a:r>
              <a:t>MIT Deep Learning for NLP（视频课）</a:t>
            </a:r>
          </a:p>
          <a:p>
            <a:pPr/>
            <a:r>
              <a:t>大模型产业观察公众号/知乎专栏</a:t>
            </a:r>
          </a:p>
          <a:p>
            <a:pPr/>
            <a:r>
              <a:t>每页主题突出，首句直击要点，配现实案例或互动小知识</a:t>
            </a:r>
          </a:p>
          <a:p>
            <a:pPr/>
            <a:r>
              <a:t>增设“最新进展速递”“参考学习资源”，体现时效性与可延展性</a:t>
            </a:r>
          </a:p>
          <a:p>
            <a:pPr/>
            <a:r>
              <a:t>随时用承接/小结句衔接章节过渡，页间逻辑清晰</a:t>
            </a:r>
          </a:p>
          <a:p>
            <a:pPr/>
            <a:r>
              <a:t>图片alt说明和可视化建议适合后续PPT美化制作</a:t>
            </a:r>
          </a:p>
          <a:p>
            <a:pPr/>
            <a:r>
              <a:t>便于插入浅显流程图、对比表、小图标，提升课堂/讲座体验</a:t>
            </a:r>
          </a:p>
          <a:p>
            <a:pPr/>
            <a:r>
              <a:t>互动“思考与讨论”板块点明社会热点，促进参与和深入思考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参考学习资源</a:t>
            </a:r>
          </a:p>
        </p:txBody>
      </p:sp>
      <p:pic>
        <p:nvPicPr>
          <p:cNvPr id="4" name="Picture Placeholder 3" descr="参考学习资源_1.jpe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 l="19659" r="19659"/>
          <a:stretch>
            <a:fillRect/>
          </a:stretch>
        </p:blipFill>
        <p:spPr/>
      </p:pic>
      <p:sp>
        <p:nvSpPr>
          <p:cNvPr id="5" name="Picture Placeholder 4"/>
          <p:cNvSpPr>
            <a:spLocks noGrp="1"/>
          </p:cNvSpPr>
          <p:nvPr>
            <p:ph type="pic" idx="11" sz="quarter"/>
          </p:nvPr>
        </p:nvSpPr>
        <p:spPr/>
      </p:sp>
    </p:spTree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DarkSeedLeftStep">
      <a:dk1>
        <a:srgbClr val="000000"/>
      </a:dk1>
      <a:lt1>
        <a:srgbClr val="FFFFFF"/>
      </a:lt1>
      <a:dk2>
        <a:srgbClr val="233A3E"/>
      </a:dk2>
      <a:lt2>
        <a:srgbClr val="E8E5E2"/>
      </a:lt2>
      <a:accent1>
        <a:srgbClr val="2979E7"/>
      </a:accent1>
      <a:accent2>
        <a:srgbClr val="17B2D0"/>
      </a:accent2>
      <a:accent3>
        <a:srgbClr val="20B690"/>
      </a:accent3>
      <a:accent4>
        <a:srgbClr val="14B94A"/>
      </a:accent4>
      <a:accent5>
        <a:srgbClr val="2EB921"/>
      </a:accent5>
      <a:accent6>
        <a:srgbClr val="65B514"/>
      </a:accent6>
      <a:hlink>
        <a:srgbClr val="329639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Grandview</vt:lpstr>
      <vt:lpstr>Helvetica Neue Medium</vt:lpstr>
      <vt:lpstr>Wingdings</vt:lpstr>
      <vt:lpstr>CosineVTI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GPT简介</dc:title>
  <cp:lastModifiedBy> </cp:lastModifiedBy>
  <cp:revision>81</cp:revision>
  <dcterms:created xsi:type="dcterms:W3CDTF">2024-01-05T14:58:10Z</dcterms:created>
  <dcterms:modified xsi:type="dcterms:W3CDTF">2024-10-26T17:52:15Z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